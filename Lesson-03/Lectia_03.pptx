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Lecția 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-200" kern="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STRING-URI ÎN DETALIU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Construcție · Indexare · Metode · Formatare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0" y="2103120"/>
            <a:ext cx="4709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0" y="22677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22677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22677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606040"/>
            <a:ext cx="4160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nume: str = "Ana Popescu"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nume.upper()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'ANA POPESCU'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nume[:3]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'Ana'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nume.replace(" ", "_")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'Ana_Popescu'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Recap — ce știm deja din L2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0665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afișează în consolă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8437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97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citește de la utilizator (returnează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62102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74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Definirea unei variabile cu adnotare de tip: 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nume: str = ...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3982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519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convertește un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într-un număr cu zecimale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08483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208483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85432" y="208483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42316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nume: str = input("Nume: 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varsta_text: str = input("Vârsta: 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varsta: float = float(varsta_text)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print(f"Salut, {nume}! Ai {varsta} ani.")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5352" y="5349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 deja știi din L2.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Programul de azi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Construcția string-urilor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ghilimele, escape, concatenare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640080" cy="64008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9077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Indexare &amp; slicing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291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accesează caractere și fragmente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8221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esențiale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.strip(), .replace(), .find() și prietenii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640080" cy="64008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7365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reale, curățare, parsare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200" kern="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Construcția string-urilor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10048" y="4297680"/>
            <a:ext cx="1371600" cy="548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 scrii un string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0665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'simple'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pentru text scurt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70662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603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"duble"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când conține 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3467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00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'''triple'''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sau 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"""triple"""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840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multilinie sau docstring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352" y="192024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208483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208483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85432" y="208483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42316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'salut'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"Ana's book"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apostrof în interior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7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'''Mai multe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7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linii într-un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7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singur string.'''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Escape sequences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Secvență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Înseamnă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394960" cy="18288"/>
          </a:xfrm>
          <a:prstGeom prst="rect">
            <a:avLst/>
          </a:prstGeom>
          <a:solidFill>
            <a:srgbClr val="3D4558"/>
          </a:solidFill>
          <a:ln w="12700">
            <a:solidFill>
              <a:srgbClr val="3D4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9456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linie nouă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\\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9456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backslash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94560" y="3977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ghilimele duble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\'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94560" y="4480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apostrof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5352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3774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print("Linia 1\nLinia 2")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Linia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Linia 2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print("C:\\Users\\Ana")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C:\Users\Ana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Concatenare și repetare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24942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lipește două string-uri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71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repetă un string de N ori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5352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08483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6832" y="208483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85432" y="208483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42316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salut: str = "Bună" + ", " + "Ana"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linie: str = "-" * 20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mesaj: str = ("Acest text este lung 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"și se continuă pe linia următoare.")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5352" y="5349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este aproape întotdeauna mai lizibil decât  +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200" kern="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Indexare și slicing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10048" y="4297680"/>
            <a:ext cx="1371600" cy="548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Indexarea — fiecare caracter are o poziție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72488" y="24688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1048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2666848" y="3931920"/>
            <a:ext cx="0" cy="41148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981048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44088" y="24688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2648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6400" dirty="0"/>
          </a:p>
        </p:txBody>
      </p:sp>
      <p:sp>
        <p:nvSpPr>
          <p:cNvPr id="12" name="Shape 10"/>
          <p:cNvSpPr/>
          <p:nvPr/>
        </p:nvSpPr>
        <p:spPr>
          <a:xfrm>
            <a:off x="4038448" y="3931920"/>
            <a:ext cx="0" cy="41148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352648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15688" y="24688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248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6400" dirty="0"/>
          </a:p>
        </p:txBody>
      </p:sp>
      <p:sp>
        <p:nvSpPr>
          <p:cNvPr id="16" name="Shape 14"/>
          <p:cNvSpPr/>
          <p:nvPr/>
        </p:nvSpPr>
        <p:spPr>
          <a:xfrm>
            <a:off x="5410048" y="3931920"/>
            <a:ext cx="0" cy="41148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724248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87288" y="24688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5848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6400" dirty="0"/>
          </a:p>
        </p:txBody>
      </p:sp>
      <p:sp>
        <p:nvSpPr>
          <p:cNvPr id="20" name="Shape 18"/>
          <p:cNvSpPr/>
          <p:nvPr/>
        </p:nvSpPr>
        <p:spPr>
          <a:xfrm>
            <a:off x="6781648" y="3931920"/>
            <a:ext cx="0" cy="41148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095848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58888" y="24688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7448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6400" dirty="0"/>
          </a:p>
        </p:txBody>
      </p:sp>
      <p:sp>
        <p:nvSpPr>
          <p:cNvPr id="24" name="Shape 22"/>
          <p:cNvSpPr/>
          <p:nvPr/>
        </p:nvSpPr>
        <p:spPr>
          <a:xfrm>
            <a:off x="8153248" y="3931920"/>
            <a:ext cx="0" cy="41148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467448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930488" y="24688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39048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6400" dirty="0"/>
          </a:p>
        </p:txBody>
      </p:sp>
      <p:sp>
        <p:nvSpPr>
          <p:cNvPr id="28" name="Shape 26"/>
          <p:cNvSpPr/>
          <p:nvPr/>
        </p:nvSpPr>
        <p:spPr>
          <a:xfrm>
            <a:off x="9524848" y="3931920"/>
            <a:ext cx="0" cy="41148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839048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Indexul = câte caractere sărim de la început. Începe de la 0, nu de la 1.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Indexare negativă — numără de la coadă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8104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66848" y="2377440"/>
            <a:ext cx="0" cy="777240"/>
          </a:xfrm>
          <a:prstGeom prst="line">
            <a:avLst/>
          </a:prstGeom>
          <a:noFill/>
          <a:ln w="38100">
            <a:solidFill>
              <a:srgbClr val="4B8BB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72488" y="3246120"/>
            <a:ext cx="1188720" cy="1280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1048" y="32461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2666848" y="4572000"/>
            <a:ext cx="0" cy="36576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981048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5264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038448" y="2377440"/>
            <a:ext cx="0" cy="777240"/>
          </a:xfrm>
          <a:prstGeom prst="line">
            <a:avLst/>
          </a:prstGeom>
          <a:noFill/>
          <a:ln w="38100">
            <a:solidFill>
              <a:srgbClr val="4B8BB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44088" y="3246120"/>
            <a:ext cx="1188720" cy="1280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648" y="32461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6000" dirty="0"/>
          </a:p>
        </p:txBody>
      </p:sp>
      <p:sp>
        <p:nvSpPr>
          <p:cNvPr id="16" name="Shape 14"/>
          <p:cNvSpPr/>
          <p:nvPr/>
        </p:nvSpPr>
        <p:spPr>
          <a:xfrm>
            <a:off x="4038448" y="4572000"/>
            <a:ext cx="0" cy="36576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352648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2424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10048" y="2377440"/>
            <a:ext cx="0" cy="777240"/>
          </a:xfrm>
          <a:prstGeom prst="line">
            <a:avLst/>
          </a:prstGeom>
          <a:noFill/>
          <a:ln w="38100">
            <a:solidFill>
              <a:srgbClr val="4B8BB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15688" y="3246120"/>
            <a:ext cx="1188720" cy="1280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4248" y="32461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6000" dirty="0"/>
          </a:p>
        </p:txBody>
      </p:sp>
      <p:sp>
        <p:nvSpPr>
          <p:cNvPr id="22" name="Shape 20"/>
          <p:cNvSpPr/>
          <p:nvPr/>
        </p:nvSpPr>
        <p:spPr>
          <a:xfrm>
            <a:off x="5410048" y="4572000"/>
            <a:ext cx="0" cy="36576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724248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9584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781648" y="2377440"/>
            <a:ext cx="0" cy="777240"/>
          </a:xfrm>
          <a:prstGeom prst="line">
            <a:avLst/>
          </a:prstGeom>
          <a:noFill/>
          <a:ln w="38100">
            <a:solidFill>
              <a:srgbClr val="4B8BB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87288" y="3246120"/>
            <a:ext cx="1188720" cy="1280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5848" y="32461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6000" dirty="0"/>
          </a:p>
        </p:txBody>
      </p:sp>
      <p:sp>
        <p:nvSpPr>
          <p:cNvPr id="28" name="Shape 26"/>
          <p:cNvSpPr/>
          <p:nvPr/>
        </p:nvSpPr>
        <p:spPr>
          <a:xfrm>
            <a:off x="6781648" y="4572000"/>
            <a:ext cx="0" cy="36576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095848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6744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153248" y="2377440"/>
            <a:ext cx="0" cy="777240"/>
          </a:xfrm>
          <a:prstGeom prst="line">
            <a:avLst/>
          </a:prstGeom>
          <a:noFill/>
          <a:ln w="38100">
            <a:solidFill>
              <a:srgbClr val="4B8BB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58888" y="3246120"/>
            <a:ext cx="1188720" cy="1280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7448" y="32461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6000" dirty="0"/>
          </a:p>
        </p:txBody>
      </p:sp>
      <p:sp>
        <p:nvSpPr>
          <p:cNvPr id="34" name="Shape 32"/>
          <p:cNvSpPr/>
          <p:nvPr/>
        </p:nvSpPr>
        <p:spPr>
          <a:xfrm>
            <a:off x="8153248" y="4572000"/>
            <a:ext cx="0" cy="36576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467448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83904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9524848" y="2377440"/>
            <a:ext cx="0" cy="777240"/>
          </a:xfrm>
          <a:prstGeom prst="line">
            <a:avLst/>
          </a:prstGeom>
          <a:noFill/>
          <a:ln w="38100">
            <a:solidFill>
              <a:srgbClr val="4B8BB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930488" y="3246120"/>
            <a:ext cx="1188720" cy="1280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39048" y="32461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6000" dirty="0"/>
          </a:p>
        </p:txBody>
      </p:sp>
      <p:sp>
        <p:nvSpPr>
          <p:cNvPr id="40" name="Shape 38"/>
          <p:cNvSpPr/>
          <p:nvPr/>
        </p:nvSpPr>
        <p:spPr>
          <a:xfrm>
            <a:off x="9524848" y="4572000"/>
            <a:ext cx="0" cy="36576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839048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s[-1] = ultimul caracter, s[-2] = penultimul. Util pentru a extrage coada string-ului.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Selectare cu index — s[i]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02082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caracter are o </a:t>
            </a:r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poziție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(index) în string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Indexul </a:t>
            </a:r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începe de la 0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nu de la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0266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803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Indexul = </a:t>
            </a:r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câte caractere sărim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început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5295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83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sări 0 caractere → primul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0325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86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s[1]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sări 1 caracter → al doilea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53542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89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</a:t>
            </a:r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numără de la coadă: </a:t>
            </a:r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s[-1]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ultimul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5352" y="18745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237744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s: str = "PYTHON"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'P' — primul caracter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s[1]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'Y'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s[5]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'N' — ultimul (lungime 6)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s[-1]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'N' — ultimul (mai elegant)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s[-2]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'O' — penultimul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45352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limbajele moderne (C, Java, JavaScript) folosesc indexare de la 0 — e standard, nu o ciudățenie a Python.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Slicing — s[start:stop]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1579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inclus,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exclus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3522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88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Lipsă 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 la 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7124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66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Lipsă 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până la final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4897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43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Funcționează și cu indici negativi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192024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08483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208483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85432" y="208483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42316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"PYTHON"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s[0:3]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'PYT'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s[2:]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'THON'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s[:4]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'PYTH'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s[-3:]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'HON' — ultimele 3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Slicing avansat — s[start:stop:step]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24942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controlează câte caractere sărim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71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 → de la dreapta la stânga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9867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40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</a:t>
            </a:r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s[::-1]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trucul clasic pentru a inversa un string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45352" y="19202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08483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208483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85432" y="208483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42316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"ABCDEF"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s[::2]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'ACE' — fiecare al doilea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s[::-1]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'FEDCBA' — invers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s[1:5:2]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'BD'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200" kern="0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Metode esențiale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10048" y="4297680"/>
            <a:ext cx="1371600" cy="548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Metode pentru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394960" cy="18288"/>
          </a:xfrm>
          <a:prstGeom prst="rect">
            <a:avLst/>
          </a:prstGeom>
          <a:solidFill>
            <a:srgbClr val="3D4558"/>
          </a:solidFill>
          <a:ln w="12700">
            <a:solidFill>
              <a:srgbClr val="3D4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.upper()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TOTUL MAJUSCULE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totul minuscule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.title()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Cuvânt Capitalizat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.capitalize()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primul caracter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.swapcase()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InVeRsEaZă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5352" y="18745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3774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nume: str = "ana POPESCU"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nume.upper() 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'ANA POPESCU'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nume.lower() 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'ana popescu'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nume.title() 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'Ana Popescu'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nume.capitalize()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'Ana popescu'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Căutare — operatorul  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1122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mai simplu test: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"sub" in "string"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43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Întoarce un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pPr indent="0" marL="0">
              <a:buNone/>
            </a:pPr>
            <a:r>
              <a:rPr lang="en-US" sz="1800" b="1" dirty="0">
                <a:solidFill>
                  <a:srgbClr val="953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sau  </a:t>
            </a:r>
            <a:pPr indent="0" marL="0">
              <a:buNone/>
            </a:pPr>
            <a:r>
              <a:rPr lang="en-US" sz="1800" b="1" dirty="0">
                <a:solidFill>
                  <a:srgbClr val="953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6667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Atenție: este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4439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97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pentru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 vrei poziția, doar dacă există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3774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str = "data analytics with python"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 in text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   in text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 in text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 ⚠ case-sensitive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tipic într-un if: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"@" in email: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print("pare email")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Căutare — .find(sub)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1122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Întoarce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indexul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primei apariții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43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nu găsește, întoarce  </a:t>
            </a:r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(NU dă eroare)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6667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Folosește când nu ești sigur că există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4439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97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Combină cu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pentru parsare manuală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3774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str = "data analytics with python"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text.find("python")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text.find("data")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 — primul caracter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text.find("a") 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 — prima apariție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text.find("xx")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-1 — nu există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5352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 întotdeauna  != -1  înainte de a folosi rezultatul.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Căutare — .index(sub)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1122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Întoarce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indexul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primei apariții (la fel ca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.find()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43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dacă nu găsește, </a:t>
            </a:r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ridică  ValueError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6667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.find()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când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poate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să nu existe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4439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97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.index()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când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trebuie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să existe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3774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str = "ion@tekwill.md"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text.index("@")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text.index(".md")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text.index("xx")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ValueError: substring not found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text.find("xx")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-1 (vs. eroare)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Căutare — .count(sub)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1122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Numără de câte ori apare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în string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43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Întoarce un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minim 0 dacă nu există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6667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Aparițiile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se suprapun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4439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97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pentru: vocale, separatori, frecvențe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3774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str = "banana"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text.count("a")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text.count("na")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text.count("z")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 — nu există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"aaaa".count("aa")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— nu se suprapun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.replace(old, new)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1579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Înlocuiește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aparițiile lui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0266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Întoarce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nou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(string-urile nu se modifică pe loc)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8953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490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treilea argument opțional limitează numărul de înlocuiri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45352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08483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208483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85432" y="208483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42316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str = "ana,popescu,25"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text.replace(",", " | 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'ana | popescu | 25'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"aaaa".replace("a", "b",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'bbaa'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Verificări bool — .startswith() / .endswith()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211226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.startswith(x)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</a:t>
            </a:r>
            <a:pPr indent="0" marL="0">
              <a:buNone/>
            </a:pPr>
            <a:r>
              <a:rPr lang="en-US" sz="1800" b="1" dirty="0">
                <a:solidFill>
                  <a:srgbClr val="953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dacă string-ul începe cu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43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.endswith(x)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</a:t>
            </a:r>
            <a:pPr indent="0" marL="0">
              <a:buNone/>
            </a:pPr>
            <a:r>
              <a:rPr lang="en-US" sz="1800" b="1" dirty="0">
                <a:solidFill>
                  <a:srgbClr val="953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dacă se termină cu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6667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primi un </a:t>
            </a:r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tuplu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variante: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("csv", "tsv")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44398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97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Tipic pentru: extensii de fișier, prefixe URL, coduri de țară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3774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"file.csv".endswith(".csv")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"file.csv".endswith(".txt")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"+373 22 123".startswith("+")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"+373".startswith(("+", "00"))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  — tuplu de prefixe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"raport.csv".endswith((".csv", ".tsv"))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Verificări bool — familia  is*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394960" cy="18288"/>
          </a:xfrm>
          <a:prstGeom prst="rect">
            <a:avLst/>
          </a:prstGeom>
          <a:solidFill>
            <a:srgbClr val="3D4558"/>
          </a:solidFill>
          <a:ln w="12700">
            <a:solidFill>
              <a:srgbClr val="3D4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.isdigit()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cifre  (0-9)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.isalpha()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3108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litere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.isalnum()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litere + cifre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.isspace()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spații / tab / \n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5352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23774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"12345".isdigit()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"12.34".isdigit()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 ⚠ punctul nu e cifră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"-5".isdigit() 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 ⚠ minusul nu e cifră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"abc".isalpha()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"abc123".isalnum()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".isspace()  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 1 — Curăță un nume murdar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A1F2E"/>
          </a:solidFill>
          <a:ln w="12700">
            <a:solidFill>
              <a:srgbClr val="2D33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Primești input-ul 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ana POPESCU   "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Returnează-l curățat: 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 Popescu"</a:t>
            </a:r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Adnotare cu tip:  </a:t>
            </a:r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nume: str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45352" y="18745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37744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raw: str = "   ana POPESCU   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nume: str = raw.strip().title()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print(f"|{nume}|")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|Ana Popescu|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 2 — Extrage user și domeniu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A1F2E"/>
          </a:solidFill>
          <a:ln w="12700">
            <a:solidFill>
              <a:srgbClr val="2D33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Dintr-un email  </a:t>
            </a:r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"ion@tekwill.md"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extrage: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1600" dirty="0">
                <a:solidFill>
                  <a:srgbClr val="0F7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"ion"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1600" dirty="0">
                <a:solidFill>
                  <a:srgbClr val="0F7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"tekwill.md"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găsește poziția lui  </a:t>
            </a:r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  </a:t>
            </a:r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.find()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apoi taie cu slicing.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5352" y="18745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37744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 = "ion@tekwill.md"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at_pos: int = email.find("@")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str = email[:at_pos]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domain: str = email[at_pos + 1:]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print(f"User:    {user}")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print(f"Domeniu: {domain}")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+ .find() = parsare manuală pentru orice separator.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 3 — Validare număr de telefon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A1F2E"/>
          </a:solidFill>
          <a:ln w="12700">
            <a:solidFill>
              <a:srgbClr val="2D33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 dacă un număr de telefon e valid: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311810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971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Conține doar cifre (după ce scoți spațiile)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666744"/>
            <a:ext cx="146304" cy="14630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20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exact 8 cifre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"022 12 34 56"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"022abc"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5352" y="18745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237744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phone: str = "022 12 34 56"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clean: str = phone.replace(" ", "")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is_valid: bool =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clean.isdigit() and len(clean) ==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print(f"{phone!r} valid? {is_valid}")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5352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întoarce lungimea — funcție built-in pentru orice secvență.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 4 — Parsează o dată ISO cu slicing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A1F2E"/>
          </a:solidFill>
          <a:ln w="12700">
            <a:solidFill>
              <a:srgbClr val="2D33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Dintr-un string  </a:t>
            </a:r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"2026-04-26"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extrage: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int =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month: int = 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day: int = 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Folosește slicing și  </a:t>
            </a:r>
            <a:pPr indent="0" marL="0">
              <a:buNone/>
            </a:pPr>
            <a:r>
              <a:rPr lang="en-US" sz="16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352" y="18745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37744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str = "2026-04-26"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int = int(data[:4])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month: int = int(data[5:7])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day: int = int(data[8:10])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print(f"An: {year}, lună: {month}, zi: {day}")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5352" y="5806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Există modulul datetime — îl vom folosi când lucrăm cu Pandas.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 5 — Normalizează un nume de coloană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242938"/>
          </a:solidFill>
          <a:ln w="12700">
            <a:solidFill>
              <a:srgbClr val="2D33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ENUNȚ  ⭐ PREVIEW PANDAS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Curăță un nume de coloană pentru un DataFrame: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First Name  "</a:t>
            </a:r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"first_name"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Pași:  strip → lower → replace spațiu cu underscore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5352" y="187452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203911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85432" y="203911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37744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raw: str = "  First Name  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clean: str =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raw.strip().lower().replace(" ", "_")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print(clean)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'first_name'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5352" y="53492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Aceasta este exact prima linie din 80% din notebook-urile Pandas.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STRING-URI ÎN DETALIU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Tema pentru acasă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hw_03.py  ·  14 exerciții, 2 părți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550408" cy="4023360"/>
          </a:xfrm>
          <a:prstGeom prst="roundRect">
            <a:avLst>
              <a:gd name="adj" fmla="val 2727"/>
            </a:avLst>
          </a:prstGeom>
          <a:solidFill>
            <a:srgbClr val="1A1F2E"/>
          </a:solidFill>
          <a:ln w="12700">
            <a:solidFill>
              <a:srgbClr val="2D33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PARTEA I — INDEXARE &amp; SLICING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67919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60604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Cuvânt:  al doilea, penultimul,  ⭐ mijloc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301752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Propoziție:  primul cuvânt,  ⭐ ultimul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50215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342900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"INFORMATICA":  primele 4 / ultimele 5 / 2:7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91363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34440" y="384048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 de pe pozițiile impare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32511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25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425196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primele 2 și fără ultimele 2 caractere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73659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736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466344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Inversează doar a doua jumătate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514807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34440" y="507492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Începe și se termină cu aceeași literă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555955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559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34440" y="548640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Înlocuiește prima și ultima literă cu  "*"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1965960"/>
            <a:ext cx="5550408" cy="4023360"/>
          </a:xfrm>
          <a:prstGeom prst="roundRect">
            <a:avLst>
              <a:gd name="adj" fmla="val 2727"/>
            </a:avLst>
          </a:prstGeom>
          <a:solidFill>
            <a:srgbClr val="1A1F2E"/>
          </a:solidFill>
          <a:ln w="12700">
            <a:solidFill>
              <a:srgbClr val="2D33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14884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PARTEA II — METODE DE STRING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267919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03720" y="260604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Lungimea textului  înainte / după  .strip()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92240" y="318211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03720" y="310896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Poziția punctului dintr-un nume de fișier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92240" y="368503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03720" y="361188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Numără consoanele dintr-un text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92240" y="418795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03720" y="411480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poștal:  4 caractere  +  doar cifre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92240" y="469087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03720" y="461772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Spații  →  "_"  într-un nume complet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92240" y="5193792"/>
            <a:ext cx="292608" cy="29260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5193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03720" y="5120640"/>
            <a:ext cx="4636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Numără propozițiile (separate prin  . )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ADIȚIONAL</a:t>
            </a:r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toate exercițiile se rezolvă DOAR cu f-string, slicing și metode de string — nicio bibliotecă externă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spc="-400" kern="0" dirty="0">
                <a:solidFill>
                  <a:srgbClr val="FFD4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286000" y="4572000"/>
            <a:ext cx="7589520" cy="109728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 w="12700">
            <a:solidFill>
              <a:srgbClr val="2D33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4663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URMĂTOAREA LECȚIE — miercuri, 18:30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4983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Condiționale: if / elif / else, operatori de comparație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5349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docs.python.org/3/library/stdtypes.html#string-methods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FOR DATA ANALYTICS · Tekwill Academy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Lecția 03 — String-uri în detaliu</dc:title>
  <dc:subject>PptxGenJS Presentation</dc:subject>
  <dc:creator>Tekwill Academy</dc:creator>
  <cp:lastModifiedBy>Tekwill Academy</cp:lastModifiedBy>
  <cp:revision>1</cp:revision>
  <dcterms:created xsi:type="dcterms:W3CDTF">2026-04-29T08:26:35Z</dcterms:created>
  <dcterms:modified xsi:type="dcterms:W3CDTF">2026-04-29T08:26:35Z</dcterms:modified>
</cp:coreProperties>
</file>